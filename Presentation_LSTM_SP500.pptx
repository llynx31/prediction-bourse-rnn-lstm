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63411" y="1667321"/>
            <a:ext cx="20170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DEEP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2123" y="2132112"/>
            <a:ext cx="717975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du S&amp;P500 avec un Reseau LSTM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2667000" y="2927449"/>
            <a:ext cx="3810000" cy="190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2808" y="3289399"/>
            <a:ext cx="40783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d'un modele predictif de series temporelles financieres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3361" y="4785420"/>
            <a:ext cx="28191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Konan G.D. - Kouiahon T.L.D. - Sagoe C.B.Y. - Sylla O. | IDSI 2025-2026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et Contexte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030462"/>
            <a:ext cx="3669060" cy="1844576"/>
          </a:xfrm>
          <a:prstGeom prst="roundRect">
            <a:avLst>
              <a:gd name="adj" fmla="val 4131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182862"/>
            <a:ext cx="171964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S&amp;P500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33400" y="2436763"/>
            <a:ext cx="34315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des 500 plus grandes entreprises cotees aux Etats-Unis, barometre de l'economie americaine.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2846338"/>
            <a:ext cx="336426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historiques abondantes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d'echanges importants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academique etablie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710" y="1685925"/>
            <a:ext cx="0" cy="110058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9160" y="1685925"/>
            <a:ext cx="2195703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Projet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9160" y="1910209"/>
            <a:ext cx="429384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LSTM pour predire le prix de cloture J+1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Atteindre un MAPE inferieur a 3%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interactif avec Streamlit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78660" y="3091309"/>
            <a:ext cx="4484340" cy="1128117"/>
          </a:xfrm>
          <a:prstGeom prst="roundRect">
            <a:avLst>
              <a:gd name="adj" fmla="val 675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12010" y="3224659"/>
            <a:ext cx="215684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Composantes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412010" y="3457426"/>
            <a:ext cx="2051745" cy="62865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88647" y="3552676"/>
            <a:ext cx="1898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8647" y="3857476"/>
            <a:ext cx="1898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LSTM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78054" y="3457426"/>
            <a:ext cx="2051745" cy="62865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54692" y="3552676"/>
            <a:ext cx="18984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54692" y="3857476"/>
            <a:ext cx="1898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Streamlit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66267"/>
            <a:ext cx="8382000" cy="613172"/>
          </a:xfrm>
          <a:prstGeom prst="roundRect">
            <a:avLst>
              <a:gd name="adj" fmla="val 1242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1490" y="1699617"/>
            <a:ext cx="816102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Peut-on utiliser un reseau LSTM pour capturer les dependances temporelles dans les donnees du S&amp;P500 et produire des predictions a court terme ?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522339"/>
            <a:ext cx="4284536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Defis de la prediction financiere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56173"/>
            <a:ext cx="2009775" cy="918121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8952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0493" y="312955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3432423"/>
            <a:ext cx="177793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Non-stationnarite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3607594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Proprietes statistiques variables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05075" y="2956173"/>
            <a:ext cx="2009775" cy="918121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38425" y="308952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34568" y="312955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38425" y="3432423"/>
            <a:ext cx="177793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Bruit eleve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38425" y="3607594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signal/bruit faible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29150" y="2956173"/>
            <a:ext cx="2009775" cy="918121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2500" y="308952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58643" y="312955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62500" y="3432423"/>
            <a:ext cx="177793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Facteurs externes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62500" y="3607594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Evenements imprevisibles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53225" y="2956173"/>
            <a:ext cx="2009775" cy="918121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86575" y="308952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82718" y="312955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86575" y="3432423"/>
            <a:ext cx="177793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Dependances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86575" y="3607594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multi-echelles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0050" y="4179094"/>
            <a:ext cx="0" cy="159990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450" y="4179094"/>
            <a:ext cx="8374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LSTM capturent ces dependances temporelles grace a leur mecanisme de memoire a long terme.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LSTM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418630"/>
            <a:ext cx="3931890" cy="709017"/>
          </a:xfrm>
          <a:prstGeom prst="roundRect">
            <a:avLst>
              <a:gd name="adj" fmla="val 10747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532930"/>
            <a:ext cx="189452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3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les LSTM ?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95300" y="1727597"/>
            <a:ext cx="37773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RNN classiques souffrent du gradient vanishing. Les LSTM (1997) resolvent ce probleme avec des portes controlees.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394347"/>
            <a:ext cx="201110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Portes du LSTM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49897"/>
            <a:ext cx="3931890" cy="426541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2749897"/>
            <a:ext cx="0" cy="426541"/>
          </a:xfrm>
          <a:prstGeom prst="line">
            <a:avLst/>
          </a:prstGeom>
          <a:noFill/>
          <a:ln w="28575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875" y="2826097"/>
            <a:ext cx="37482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Forget Gate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980283"/>
            <a:ext cx="37482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quelle information oublier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3405039"/>
            <a:ext cx="3931890" cy="426541"/>
          </a:xfrm>
          <a:prstGeom prst="rect">
            <a:avLst/>
          </a:prstGeom>
          <a:solidFill>
            <a:srgbClr val="F0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3405039"/>
            <a:ext cx="0" cy="426541"/>
          </a:xfrm>
          <a:prstGeom prst="line">
            <a:avLst/>
          </a:prstGeom>
          <a:noFill/>
          <a:ln w="28575">
            <a:solidFill>
              <a:srgbClr val="2D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875" y="3481239"/>
            <a:ext cx="37482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Input Gate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23875" y="3635425"/>
            <a:ext cx="37482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quelle information ajouter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4060180"/>
            <a:ext cx="3931890" cy="426541"/>
          </a:xfrm>
          <a:prstGeom prst="rect">
            <a:avLst/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4060180"/>
            <a:ext cx="0" cy="426541"/>
          </a:xfrm>
          <a:prstGeom prst="line">
            <a:avLst/>
          </a:prstGeom>
          <a:noFill/>
          <a:ln w="28575">
            <a:solidFill>
              <a:srgbClr val="6B5B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875" y="4136380"/>
            <a:ext cx="374821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Output Gate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3875" y="4290566"/>
            <a:ext cx="37482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quelle partie utiliser pour la sortie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503390" y="1779538"/>
            <a:ext cx="4259610" cy="1117550"/>
          </a:xfrm>
          <a:prstGeom prst="roundRect">
            <a:avLst>
              <a:gd name="adj" fmla="val 681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36740" y="1912888"/>
            <a:ext cx="2040255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du LSTM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6740" y="2135088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94634" y="2154138"/>
            <a:ext cx="5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84390" y="2154138"/>
            <a:ext cx="1706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des dependances a long terme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36740" y="2363688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94634" y="2382738"/>
            <a:ext cx="5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84390" y="2382738"/>
            <a:ext cx="11342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 le gradient vanishing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36740" y="2592288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4634" y="2611338"/>
            <a:ext cx="56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84390" y="2611338"/>
            <a:ext cx="804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Portes adaptatives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03390" y="3163788"/>
            <a:ext cx="4259610" cy="962025"/>
          </a:xfrm>
          <a:prstGeom prst="roundRect">
            <a:avLst>
              <a:gd name="adj" fmla="val 7921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17690" y="3278088"/>
            <a:ext cx="2059686" cy="11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7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Equation du Cell State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17690" y="3470672"/>
            <a:ext cx="4031010" cy="363736"/>
          </a:xfrm>
          <a:prstGeom prst="roundRect">
            <a:avLst>
              <a:gd name="adj" fmla="val 157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674535" y="3565922"/>
            <a:ext cx="39173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C_t = f_t * C_{t-1} + i_t * C_t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577380" y="3891558"/>
            <a:ext cx="41116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Oubli partiel + Ajout nouvelle information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Modele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411337"/>
            <a:ext cx="79667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LSTM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85913" y="1785938"/>
            <a:ext cx="2095500" cy="298996"/>
          </a:xfrm>
          <a:prstGeom prst="roundRect">
            <a:avLst>
              <a:gd name="adj" fmla="val 19114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20406" y="186213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[batch, 60, 5]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600325" y="2142083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85913" y="2385864"/>
            <a:ext cx="2095500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20406" y="2462064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Layer 1 (64)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269034" y="2742009"/>
            <a:ext cx="729109" cy="196155"/>
          </a:xfrm>
          <a:prstGeom prst="roundRect">
            <a:avLst>
              <a:gd name="adj" fmla="val 19423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83334" y="2780109"/>
            <a:ext cx="5105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20%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585913" y="2995315"/>
            <a:ext cx="2095500" cy="298996"/>
          </a:xfrm>
          <a:prstGeom prst="roundRect">
            <a:avLst>
              <a:gd name="adj" fmla="val 1911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20406" y="3071515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Layer 2 (64)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00325" y="3351461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85913" y="3595241"/>
            <a:ext cx="2095500" cy="298996"/>
          </a:xfrm>
          <a:prstGeom prst="roundRect">
            <a:avLst>
              <a:gd name="adj" fmla="val 19114"/>
            </a:avLst>
          </a:prstGeom>
          <a:solidFill>
            <a:srgbClr val="2D5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20406" y="3671441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 64→1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00325" y="3951387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85913" y="4195167"/>
            <a:ext cx="2095500" cy="298996"/>
          </a:xfrm>
          <a:prstGeom prst="roundRect">
            <a:avLst>
              <a:gd name="adj" fmla="val 19114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20406" y="4271367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(Close J+1)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76825" y="1614785"/>
            <a:ext cx="18848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6825" y="1989386"/>
            <a:ext cx="3686175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191125" y="2279898"/>
            <a:ext cx="3457575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1125" y="2103686"/>
            <a:ext cx="437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input_size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172450" y="2103686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(OHLCV)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91125" y="2518023"/>
            <a:ext cx="3457575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1125" y="2341811"/>
            <a:ext cx="518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hidden_size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542734" y="2341811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91125" y="2756148"/>
            <a:ext cx="3457575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1125" y="2579936"/>
            <a:ext cx="502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num_layers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95717" y="257993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191125" y="2994273"/>
            <a:ext cx="3457575" cy="0"/>
          </a:xfrm>
          <a:prstGeom prst="line">
            <a:avLst/>
          </a:prstGeom>
          <a:noFill/>
          <a:ln w="9525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1125" y="2818061"/>
            <a:ext cx="329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516243" y="2818061"/>
            <a:ext cx="135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91125" y="3056186"/>
            <a:ext cx="740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sequence_length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83327" y="3056186"/>
            <a:ext cx="372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jours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76825" y="3570536"/>
            <a:ext cx="3686175" cy="720030"/>
          </a:xfrm>
          <a:prstGeom prst="roundRect">
            <a:avLst>
              <a:gd name="adj" fmla="val 1058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56549" y="3684836"/>
            <a:ext cx="35267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51,521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56549" y="4042916"/>
            <a:ext cx="35267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parametres entrainables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Methodologie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31194"/>
            <a:ext cx="4284536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Machine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847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985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439614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11064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39912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1050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669679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41129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69976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1114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99743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71193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00041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61179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129808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1258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0105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1243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359872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1322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2D5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60170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21308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589937" y="253141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C8D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61387" y="2324844"/>
            <a:ext cx="1001464" cy="339030"/>
          </a:xfrm>
          <a:prstGeom prst="roundRect">
            <a:avLst>
              <a:gd name="adj" fmla="val 16857"/>
            </a:avLst>
          </a:prstGeom>
          <a:solidFill>
            <a:srgbClr val="2D5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90234" y="2401044"/>
            <a:ext cx="9437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51372" y="2701975"/>
            <a:ext cx="1021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1000" y="3246686"/>
            <a:ext cx="2692450" cy="607516"/>
          </a:xfrm>
          <a:prstGeom prst="roundRect">
            <a:avLst>
              <a:gd name="adj" fmla="val 12543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5300" y="3360986"/>
            <a:ext cx="251312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OHLCV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95300" y="3562796"/>
            <a:ext cx="362248" cy="177105"/>
          </a:xfrm>
          <a:prstGeom prst="roundRect">
            <a:avLst>
              <a:gd name="adj" fmla="val 2151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500" y="3591371"/>
            <a:ext cx="214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914698" y="3562796"/>
            <a:ext cx="328761" cy="177105"/>
          </a:xfrm>
          <a:prstGeom prst="roundRect">
            <a:avLst>
              <a:gd name="adj" fmla="val 2151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90898" y="3591371"/>
            <a:ext cx="1798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1300609" y="3562796"/>
            <a:ext cx="309711" cy="177105"/>
          </a:xfrm>
          <a:prstGeom prst="roundRect">
            <a:avLst>
              <a:gd name="adj" fmla="val 2151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76809" y="3591371"/>
            <a:ext cx="1604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1667470" y="3562796"/>
            <a:ext cx="385911" cy="177105"/>
          </a:xfrm>
          <a:prstGeom prst="roundRect">
            <a:avLst>
              <a:gd name="adj" fmla="val 21513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743670" y="3591371"/>
            <a:ext cx="2381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2110532" y="3562796"/>
            <a:ext cx="438448" cy="177105"/>
          </a:xfrm>
          <a:prstGeom prst="roundRect">
            <a:avLst>
              <a:gd name="adj" fmla="val 2151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186732" y="3591371"/>
            <a:ext cx="291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3225850" y="3126730"/>
            <a:ext cx="2692450" cy="847427"/>
          </a:xfrm>
          <a:prstGeom prst="roundRect">
            <a:avLst>
              <a:gd name="adj" fmla="val 8992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340150" y="3241030"/>
            <a:ext cx="251312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3340150" y="3442841"/>
            <a:ext cx="184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5618113" y="3442841"/>
            <a:ext cx="1896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340150" y="3591371"/>
            <a:ext cx="3741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5565725" y="3591371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3340150" y="3739902"/>
            <a:ext cx="291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5660827" y="3739902"/>
            <a:ext cx="1460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070699" y="3126730"/>
            <a:ext cx="2692450" cy="847427"/>
          </a:xfrm>
          <a:prstGeom prst="roundRect">
            <a:avLst>
              <a:gd name="adj" fmla="val 89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84999" y="3241030"/>
            <a:ext cx="251312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6184999" y="3442841"/>
            <a:ext cx="3014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8429625" y="3442841"/>
            <a:ext cx="2236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ans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6184999" y="3591371"/>
            <a:ext cx="1959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8477250" y="3591371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184999" y="3739902"/>
            <a:ext cx="1604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8477250" y="3739902"/>
            <a:ext cx="1750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Pretraitement des Donnees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05732"/>
            <a:ext cx="4095750" cy="1016496"/>
          </a:xfrm>
          <a:prstGeom prst="roundRect">
            <a:avLst>
              <a:gd name="adj" fmla="val 74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939082"/>
            <a:ext cx="196253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MinMaxScaler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2142232"/>
            <a:ext cx="3829050" cy="350490"/>
          </a:xfrm>
          <a:prstGeom prst="roundRect">
            <a:avLst>
              <a:gd name="adj" fmla="val 16306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3215" y="2237482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X_norm = (X - X_min) / (X_max - X_min)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060" y="2568922"/>
            <a:ext cx="39056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Ramene toutes les valeurs dans [0, 1]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3107978"/>
            <a:ext cx="209854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482578"/>
            <a:ext cx="4095750" cy="617190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300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50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43000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52550" y="359687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43050" y="3610124"/>
            <a:ext cx="133350" cy="13335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6628" y="3852118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jours passes → prediction J+1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1437829"/>
            <a:ext cx="209854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des Donnees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812429"/>
            <a:ext cx="4095750" cy="1081683"/>
          </a:xfrm>
          <a:prstGeom prst="roundRect">
            <a:avLst>
              <a:gd name="adj" fmla="val 704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1952327"/>
            <a:ext cx="6860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brutes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1712" y="1945779"/>
            <a:ext cx="4160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1256 x 5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00600" y="2175123"/>
            <a:ext cx="48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94452" y="2168575"/>
            <a:ext cx="647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1196 x 60 x 5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00600" y="2397919"/>
            <a:ext cx="399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Train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046988" y="2391370"/>
            <a:ext cx="5943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956 x 60 x 5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00600" y="2620714"/>
            <a:ext cx="360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Test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46988" y="2614166"/>
            <a:ext cx="5943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x 60 x 5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67250" y="3179862"/>
            <a:ext cx="4095750" cy="1287661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86300" y="3179862"/>
            <a:ext cx="0" cy="1287661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9650" y="3294162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normaliser ?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819650" y="3476923"/>
            <a:ext cx="38290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plus rapide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Stabilite numerique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 la dominance des grandes valeurs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Resultats d'Entrainement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21470"/>
            <a:ext cx="2302574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 de Loss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896070"/>
            <a:ext cx="4505325" cy="1809750"/>
          </a:xfrm>
          <a:prstGeom prst="roundRect">
            <a:avLst>
              <a:gd name="adj" fmla="val 4211"/>
            </a:avLst>
          </a:prstGeom>
          <a:solidFill>
            <a:srgbClr val="F8F9FA"/>
          </a:solidFill>
          <a:ln w="9525">
            <a:solidFill>
              <a:srgbClr val="E8EE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2038945"/>
            <a:ext cx="19050" cy="15240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3543895"/>
            <a:ext cx="4219575" cy="1905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rasterized-gradient-f9010c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134195"/>
            <a:ext cx="604242" cy="990600"/>
          </a:xfrm>
          <a:prstGeom prst="rect">
            <a:avLst/>
          </a:prstGeom>
        </p:spPr>
      </p:pic>
      <p:pic>
        <p:nvPicPr>
          <p:cNvPr id="9" name="Image 1" descr="/tmp/rasterized-gradient-f125c0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216" y="2505670"/>
            <a:ext cx="1208633" cy="619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14179" y="2877145"/>
            <a:ext cx="1813024" cy="24765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71500" y="2086570"/>
            <a:ext cx="1642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4441627" y="3408759"/>
            <a:ext cx="259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381000" y="3972520"/>
            <a:ext cx="1438275" cy="411361"/>
          </a:xfrm>
          <a:prstGeom prst="roundRect">
            <a:avLst>
              <a:gd name="adj" fmla="val 13893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44341" y="4048720"/>
            <a:ext cx="13115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444341" y="4174331"/>
            <a:ext cx="13115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Descente rapide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914525" y="3972520"/>
            <a:ext cx="1438275" cy="411361"/>
          </a:xfrm>
          <a:prstGeom prst="roundRect">
            <a:avLst>
              <a:gd name="adj" fmla="val 13893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977866" y="4048720"/>
            <a:ext cx="13115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1977866" y="4174331"/>
            <a:ext cx="13115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Affinage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448050" y="3972520"/>
            <a:ext cx="1438275" cy="411361"/>
          </a:xfrm>
          <a:prstGeom prst="roundRect">
            <a:avLst>
              <a:gd name="adj" fmla="val 13893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511391" y="4048720"/>
            <a:ext cx="13115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3511391" y="4174331"/>
            <a:ext cx="13115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076825" y="1377851"/>
            <a:ext cx="18848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76825" y="1752451"/>
            <a:ext cx="3686175" cy="858887"/>
          </a:xfrm>
          <a:prstGeom prst="roundRect">
            <a:avLst>
              <a:gd name="adj" fmla="val 887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210175" y="1892350"/>
            <a:ext cx="507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initiale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8309074" y="1885801"/>
            <a:ext cx="3269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0.0089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210175" y="2115145"/>
            <a:ext cx="464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finale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250882" y="2108597"/>
            <a:ext cx="3863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0.00019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5210175" y="2337941"/>
            <a:ext cx="437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8332440" y="2331393"/>
            <a:ext cx="3031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5076825" y="2878038"/>
            <a:ext cx="3686175" cy="1649611"/>
          </a:xfrm>
          <a:prstGeom prst="roundRect">
            <a:avLst>
              <a:gd name="adj" fmla="val 4619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210175" y="3011388"/>
            <a:ext cx="348786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5210175" y="3213199"/>
            <a:ext cx="3419475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stable sans oscillation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signe d'overfitting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bien calibre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Plateau atteint vers epoch 200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Metriques d'Evaluation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41140"/>
            <a:ext cx="2692450" cy="992386"/>
          </a:xfrm>
          <a:prstGeom prst="roundRect">
            <a:avLst>
              <a:gd name="adj" fmla="val 9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760190"/>
            <a:ext cx="2692450" cy="0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9524" y="1931640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9524" y="2103090"/>
            <a:ext cx="24354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$107.62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9524" y="2461171"/>
            <a:ext cx="24354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Mean Square Error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25850" y="1741140"/>
            <a:ext cx="2692450" cy="992386"/>
          </a:xfrm>
          <a:prstGeom prst="roundRect">
            <a:avLst>
              <a:gd name="adj" fmla="val 9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850" y="1760190"/>
            <a:ext cx="2692450" cy="0"/>
          </a:xfrm>
          <a:prstGeom prst="line">
            <a:avLst/>
          </a:prstGeom>
          <a:noFill/>
          <a:ln w="38100">
            <a:solidFill>
              <a:srgbClr val="2D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4373" y="1931640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54373" y="2103090"/>
            <a:ext cx="24354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$80.30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4373" y="2461171"/>
            <a:ext cx="24354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70699" y="1741140"/>
            <a:ext cx="2692450" cy="992386"/>
          </a:xfrm>
          <a:prstGeom prst="roundRect">
            <a:avLst>
              <a:gd name="adj" fmla="val 959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0699" y="1760190"/>
            <a:ext cx="2692450" cy="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223" y="1931640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99223" y="2103090"/>
            <a:ext cx="24354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9223" y="2461171"/>
            <a:ext cx="24354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% Error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81000" y="3065115"/>
            <a:ext cx="4114800" cy="1072455"/>
          </a:xfrm>
          <a:prstGeom prst="roundRect">
            <a:avLst>
              <a:gd name="adj" fmla="val 7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350" y="3198465"/>
            <a:ext cx="1972247" cy="11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7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MAPE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14350" y="3431977"/>
            <a:ext cx="571500" cy="7620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62050" y="3410099"/>
            <a:ext cx="9428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(moins de 2%)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4350" y="3590032"/>
            <a:ext cx="571500" cy="76200"/>
          </a:xfrm>
          <a:prstGeom prst="roundRect">
            <a:avLst>
              <a:gd name="adj" fmla="val 50000"/>
            </a:avLst>
          </a:prstGeom>
          <a:solidFill>
            <a:srgbClr val="8BC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62050" y="3568154"/>
            <a:ext cx="4423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(2-5%)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14350" y="3748087"/>
            <a:ext cx="571500" cy="7620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62050" y="3726210"/>
            <a:ext cx="7679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(5-10%)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14350" y="3906143"/>
            <a:ext cx="571500" cy="76200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62050" y="3884265"/>
            <a:ext cx="8019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(plus de 10%)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48200" y="3038326"/>
            <a:ext cx="4114800" cy="1126034"/>
          </a:xfrm>
          <a:prstGeom prst="roundRect">
            <a:avLst>
              <a:gd name="adj" fmla="val 676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1550" y="3171676"/>
            <a:ext cx="1972247" cy="11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7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Resultat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81550" y="3364260"/>
            <a:ext cx="3925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un MAPE de 1.30%, notre modele se situe dans la categorie "Excellent", surpassant l'objectif initial de 3%.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81550" y="3745260"/>
            <a:ext cx="3848100" cy="28575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20793" y="382146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atteint et depasse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du Modele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62398"/>
            <a:ext cx="4095750" cy="2780705"/>
          </a:xfrm>
          <a:prstGeom prst="roundRect">
            <a:avLst>
              <a:gd name="adj" fmla="val 342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69574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5164" y="1729978"/>
            <a:ext cx="68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9150" y="1735931"/>
            <a:ext cx="446154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4350" y="2038648"/>
            <a:ext cx="38290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8638" y="2038648"/>
            <a:ext cx="0" cy="48562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175" y="2133898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Excellente precision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38175" y="2309068"/>
            <a:ext cx="36821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1.30% - niveau professionnel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14350" y="2600474"/>
            <a:ext cx="38290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8638" y="2600474"/>
            <a:ext cx="0" cy="48562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175" y="2695724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 generalisation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38175" y="2870895"/>
            <a:ext cx="36821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d'overfitting detecte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14350" y="3162300"/>
            <a:ext cx="38290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8638" y="3162300"/>
            <a:ext cx="0" cy="48562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175" y="3257550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de la tendance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38175" y="3432721"/>
            <a:ext cx="36821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 la direction du marche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14350" y="3724126"/>
            <a:ext cx="3829050" cy="485626"/>
          </a:xfrm>
          <a:prstGeom prst="roundRect">
            <a:avLst>
              <a:gd name="adj" fmla="val 1176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8638" y="3724126"/>
            <a:ext cx="0" cy="485626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175" y="3819376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Entrainement stable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38175" y="3994547"/>
            <a:ext cx="36821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sans divergence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67250" y="1552873"/>
            <a:ext cx="4095750" cy="2799755"/>
          </a:xfrm>
          <a:prstGeom prst="roundRect">
            <a:avLst>
              <a:gd name="adj" fmla="val 3402"/>
            </a:avLst>
          </a:prstGeom>
          <a:solidFill>
            <a:srgbClr val="F8F9FA"/>
          </a:solidFill>
          <a:ln w="9525">
            <a:solidFill>
              <a:srgbClr val="E8EE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0125" y="169574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08500" y="1729978"/>
            <a:ext cx="324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14925" y="1735931"/>
            <a:ext cx="476211" cy="148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0125" y="2038648"/>
            <a:ext cx="3810000" cy="485626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24413" y="2038648"/>
            <a:ext cx="0" cy="48562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3950" y="2133898"/>
            <a:ext cx="3662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Difficulte avec volatilite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933950" y="2309068"/>
            <a:ext cx="36627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sur mouvements brusques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810125" y="2600474"/>
            <a:ext cx="3810000" cy="485626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24413" y="2600474"/>
            <a:ext cx="0" cy="48562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3950" y="2695724"/>
            <a:ext cx="3662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conservatrices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33950" y="2870895"/>
            <a:ext cx="36627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Sous-estime pics, sur-estime creux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10125" y="3162300"/>
            <a:ext cx="3810000" cy="485626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824413" y="3162300"/>
            <a:ext cx="0" cy="48562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3950" y="3257550"/>
            <a:ext cx="3662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limite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933950" y="3432721"/>
            <a:ext cx="36627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J+1 uniquement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810125" y="3724126"/>
            <a:ext cx="3810000" cy="485626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824413" y="3724126"/>
            <a:ext cx="0" cy="48562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3950" y="3819376"/>
            <a:ext cx="3662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donnees externes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933950" y="3994547"/>
            <a:ext cx="36627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sentiment, news, macro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Interactif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445121"/>
            <a:ext cx="3686175" cy="612725"/>
          </a:xfrm>
          <a:prstGeom prst="roundRect">
            <a:avLst>
              <a:gd name="adj" fmla="val 1243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578471"/>
            <a:ext cx="174879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Streamlit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781621"/>
            <a:ext cx="3487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interactive pour visualiser et utiliser le modele sans programmation.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343596"/>
            <a:ext cx="1884807" cy="11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7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Fonctionnalites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707630"/>
            <a:ext cx="3686175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78383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9651" y="281806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2000" y="2831455"/>
            <a:ext cx="1440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donnees historiques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164830"/>
            <a:ext cx="3686175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324103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9651" y="327526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288655"/>
            <a:ext cx="10963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en temps reel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622030"/>
            <a:ext cx="3686175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69823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9651" y="373246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2000" y="3745855"/>
            <a:ext cx="1134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Metriques de performance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4079230"/>
            <a:ext cx="3686175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415543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9651" y="4189661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2000" y="4203055"/>
            <a:ext cx="12097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interactifs Plotly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57675" y="1600349"/>
            <a:ext cx="2302574" cy="11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7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Projet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257675" y="1964382"/>
            <a:ext cx="4505325" cy="1439763"/>
          </a:xfrm>
          <a:prstGeom prst="roundRect">
            <a:avLst>
              <a:gd name="adj" fmla="val 529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91025" y="2097732"/>
            <a:ext cx="43233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dashboard.py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91025" y="2288232"/>
            <a:ext cx="43233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391025" y="2436763"/>
            <a:ext cx="4323398" cy="11995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model.py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391025" y="2575768"/>
            <a:ext cx="4323398" cy="11995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data_loader.py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391025" y="2714774"/>
            <a:ext cx="4323398" cy="11995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utils.py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391025" y="2863304"/>
            <a:ext cx="43233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391025" y="3011835"/>
            <a:ext cx="4323398" cy="11995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lstm_model.pth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391025" y="3150840"/>
            <a:ext cx="4323398" cy="119955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scaler.pkl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257675" y="3689896"/>
            <a:ext cx="4505325" cy="615255"/>
          </a:xfrm>
          <a:prstGeom prst="roundRect">
            <a:avLst>
              <a:gd name="adj" fmla="val 12385"/>
            </a:avLst>
          </a:prstGeom>
          <a:solidFill>
            <a:srgbClr val="E8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71975" y="3804196"/>
            <a:ext cx="43622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371975" y="3994696"/>
            <a:ext cx="528786" cy="196155"/>
          </a:xfrm>
          <a:prstGeom prst="roundRect">
            <a:avLst>
              <a:gd name="adj" fmla="val 1942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67225" y="4032796"/>
            <a:ext cx="3450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957911" y="3994696"/>
            <a:ext cx="400199" cy="196155"/>
          </a:xfrm>
          <a:prstGeom prst="roundRect">
            <a:avLst>
              <a:gd name="adj" fmla="val 1942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53161" y="4032796"/>
            <a:ext cx="2138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415260" y="3994696"/>
            <a:ext cx="500211" cy="196155"/>
          </a:xfrm>
          <a:prstGeom prst="roundRect">
            <a:avLst>
              <a:gd name="adj" fmla="val 1942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510510" y="4032796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972621" y="3994696"/>
            <a:ext cx="481310" cy="196155"/>
          </a:xfrm>
          <a:prstGeom prst="roundRect">
            <a:avLst>
              <a:gd name="adj" fmla="val 1942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67871" y="4032796"/>
            <a:ext cx="2966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et Perspectives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15839"/>
            <a:ext cx="209854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Atteints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109490"/>
            <a:ext cx="4095750" cy="462855"/>
          </a:xfrm>
          <a:prstGeom prst="roundRect">
            <a:avLst>
              <a:gd name="adj" fmla="val 1234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220474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5009" y="2233315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2950" y="2204740"/>
            <a:ext cx="14388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 LSTM fonctionnel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2950" y="2357140"/>
            <a:ext cx="1438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couches, 64 neurones, 51k params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648545"/>
            <a:ext cx="4095750" cy="462855"/>
          </a:xfrm>
          <a:prstGeom prst="roundRect">
            <a:avLst>
              <a:gd name="adj" fmla="val 1234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274379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5009" y="277237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2950" y="2743795"/>
            <a:ext cx="10302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excellente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2950" y="2896195"/>
            <a:ext cx="10302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1.30% (objectif 3%)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3187601"/>
            <a:ext cx="4095750" cy="462855"/>
          </a:xfrm>
          <a:prstGeom prst="roundRect">
            <a:avLst>
              <a:gd name="adj" fmla="val 1234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28285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5009" y="331142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2950" y="3282851"/>
            <a:ext cx="944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interactif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42950" y="3435251"/>
            <a:ext cx="9448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+ Plotly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81000" y="3726656"/>
            <a:ext cx="4095750" cy="462855"/>
          </a:xfrm>
          <a:prstGeom prst="roundRect">
            <a:avLst>
              <a:gd name="adj" fmla="val 1234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382190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5009" y="385048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2950" y="3821906"/>
            <a:ext cx="1268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complete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2950" y="3974306"/>
            <a:ext cx="12686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5A6D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commente et reproductible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67250" y="1920627"/>
            <a:ext cx="2098548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d'Amelioration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7250" y="2314277"/>
            <a:ext cx="4095750" cy="1028700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24857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950" y="2447627"/>
            <a:ext cx="1490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techniques (SMA, RSI)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600" y="269527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33950" y="2657177"/>
            <a:ext cx="15121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externes (VIX, sentiment)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0600" y="29048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33950" y="2866727"/>
            <a:ext cx="1627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Architectures avancees (Transformer)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600" y="311437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3950" y="3076277"/>
            <a:ext cx="10152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multi-horizon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7250" y="3609677"/>
            <a:ext cx="4095750" cy="375196"/>
          </a:xfrm>
          <a:prstGeom prst="roundRect">
            <a:avLst>
              <a:gd name="adj" fmla="val 20309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2879" y="372397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 professionnelles atteintes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67578" y="1225302"/>
            <a:ext cx="32086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14601" y="1682502"/>
            <a:ext cx="1714500" cy="19050"/>
          </a:xfrm>
          <a:prstGeom prst="rect">
            <a:avLst/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05088" y="2234952"/>
            <a:ext cx="3933825" cy="1683097"/>
          </a:xfrm>
          <a:prstGeom prst="roundRect">
            <a:avLst>
              <a:gd name="adj" fmla="val 565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02463" y="2406402"/>
            <a:ext cx="1739075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Principales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7783" y="2647652"/>
            <a:ext cx="34684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Hochreiter, S. et Schmidhuber, J. (1997). Long Short-Term Memory. Neural Computation.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837783" y="2824758"/>
            <a:ext cx="34684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Fischer, T. et Krauss, C. (2018). Deep learning with LSTM for financial market predictions.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837783" y="3001863"/>
            <a:ext cx="346843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Goodfellow, I., Bengio, Y. et Courville, A. (2016). Deep Learning. MIT Press.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2871788" y="3240881"/>
            <a:ext cx="340042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7783" y="3359944"/>
            <a:ext cx="34684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42804" y="3550444"/>
            <a:ext cx="500211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4956" y="3588544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719215" y="3550444"/>
            <a:ext cx="528786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1082" y="3588544"/>
            <a:ext cx="3450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324201" y="3550444"/>
            <a:ext cx="509885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16257" y="3588544"/>
            <a:ext cx="32577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yfinance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910286" y="3550444"/>
            <a:ext cx="614511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01296" y="3588544"/>
            <a:ext cx="4324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600998" y="3550444"/>
            <a:ext cx="400199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94151" y="3588544"/>
            <a:ext cx="2138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53361" y="4785420"/>
            <a:ext cx="28191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Konan G.D. - Kouiahon T.L.D. - Sagoe C.B.Y. - Sylla O. | IDSI 2025-2026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du S&amp;P500 avec un Reseau LSTM</dc:title>
  <dc:subject>Projet Deep Learning - IDSI 2025-2026</dc:subject>
  <dc:creator>Konan G.D., Kouiahon T.L.D., Sagoe C.B.Y., Sylla O.</dc:creator>
  <cp:lastModifiedBy>Konan G.D., Kouiahon T.L.D., Sagoe C.B.Y., Sylla O.</cp:lastModifiedBy>
  <cp:revision>1</cp:revision>
  <dcterms:created xsi:type="dcterms:W3CDTF">2026-01-17T15:38:26Z</dcterms:created>
  <dcterms:modified xsi:type="dcterms:W3CDTF">2026-01-17T15:38:26Z</dcterms:modified>
</cp:coreProperties>
</file>